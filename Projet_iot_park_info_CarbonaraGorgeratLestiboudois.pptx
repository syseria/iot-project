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b45eaa8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eab45eaa8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ab45eaa8d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eab45eaa8d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b45eaa8d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eab45eaa8d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ab45eaa8d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eab45eaa8d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aec72acf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eaec72acf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9FD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2235200" y="1820333"/>
            <a:ext cx="7721600" cy="1909763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>
                <a:latin typeface="Arial"/>
                <a:ea typeface="Arial"/>
                <a:cs typeface="Arial"/>
                <a:sym typeface="Arial"/>
              </a:rPr>
              <a:t>Park-Info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47196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HEIG-VD, IoT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lt1"/>
                </a:solidFill>
              </a:rPr>
              <a:t>Présentation du projet IoT, HEIG-VD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92000" cy="895815"/>
          </a:xfrm>
          <a:prstGeom prst="rect">
            <a:avLst/>
          </a:prstGeom>
          <a:solidFill>
            <a:srgbClr val="00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317670" y="1124034"/>
            <a:ext cx="115200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524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700">
                <a:latin typeface="Arial"/>
                <a:ea typeface="Arial"/>
                <a:cs typeface="Arial"/>
                <a:sym typeface="Arial"/>
              </a:rPr>
              <a:t>Gestion de parking intelligente</a:t>
            </a:r>
            <a:endParaRPr b="1" sz="2700">
              <a:latin typeface="Arial"/>
              <a:ea typeface="Arial"/>
              <a:cs typeface="Arial"/>
              <a:sym typeface="Arial"/>
            </a:endParaRPr>
          </a:p>
          <a:p>
            <a:pPr indent="0" lvl="0" marL="152400" rt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Utilisation de capteurs au sol pour détecter quelles places sont occupée et en tirer des informations pour une meilleure gestion.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4"/>
          <p:cNvCxnSpPr/>
          <p:nvPr/>
        </p:nvCxnSpPr>
        <p:spPr>
          <a:xfrm>
            <a:off x="336000" y="6316133"/>
            <a:ext cx="11520000" cy="0"/>
          </a:xfrm>
          <a:prstGeom prst="straightConnector1">
            <a:avLst/>
          </a:prstGeom>
          <a:noFill/>
          <a:ln cap="flat" cmpd="sng" w="28575">
            <a:solidFill>
              <a:srgbClr val="0097C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9" name="Google Shape;99;p14"/>
          <p:cNvSpPr txBox="1"/>
          <p:nvPr/>
        </p:nvSpPr>
        <p:spPr>
          <a:xfrm>
            <a:off x="317670" y="93964"/>
            <a:ext cx="115383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GB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Sujet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3145405" y="6400800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Présentation du projet IoT, HEIG-VD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/>
          <p:nvPr>
            <p:ph idx="12" type="sldNum"/>
          </p:nvPr>
        </p:nvSpPr>
        <p:spPr>
          <a:xfrm>
            <a:off x="11425822" y="6400800"/>
            <a:ext cx="430178" cy="36079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2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Park-Info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0"/>
            <a:ext cx="12192000" cy="895815"/>
          </a:xfrm>
          <a:prstGeom prst="rect">
            <a:avLst/>
          </a:prstGeom>
          <a:solidFill>
            <a:srgbClr val="00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336000" y="6316133"/>
            <a:ext cx="11520000" cy="0"/>
          </a:xfrm>
          <a:prstGeom prst="straightConnector1">
            <a:avLst/>
          </a:prstGeom>
          <a:noFill/>
          <a:ln cap="flat" cmpd="sng" w="28575">
            <a:solidFill>
              <a:srgbClr val="0097C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15"/>
          <p:cNvSpPr txBox="1"/>
          <p:nvPr/>
        </p:nvSpPr>
        <p:spPr>
          <a:xfrm>
            <a:off x="317670" y="93964"/>
            <a:ext cx="115383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solidFill>
                  <a:schemeClr val="lt1"/>
                </a:solidFill>
              </a:rPr>
              <a:t>É</a:t>
            </a:r>
            <a:r>
              <a:rPr b="0" i="0" lang="en-GB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quipe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3145405" y="6400800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Présentation du projet IoT, HEIG-VD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>
            <p:ph idx="12" type="sldNum"/>
          </p:nvPr>
        </p:nvSpPr>
        <p:spPr>
          <a:xfrm>
            <a:off x="11425822" y="6400800"/>
            <a:ext cx="430178" cy="36079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2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317675" y="2401175"/>
            <a:ext cx="3278400" cy="2409600"/>
          </a:xfrm>
          <a:prstGeom prst="rect">
            <a:avLst/>
          </a:prstGeom>
          <a:solidFill>
            <a:srgbClr val="009FD8"/>
          </a:solidFill>
          <a:ln>
            <a:noFill/>
          </a:ln>
          <a:effectLst>
            <a:outerShdw rotWithShape="0" algn="bl" dir="3180000" dist="85725">
              <a:schemeClr val="accent1">
                <a:alpha val="33000"/>
              </a:schemeClr>
            </a:outerShdw>
          </a:effectLst>
        </p:spPr>
        <p:txBody>
          <a:bodyPr anchorCtr="0" anchor="t" bIns="90000" lIns="108000" spcFirstLastPara="1" rIns="108000" wrap="square" tIns="90000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Nicolas Carbonara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Orientation réseau</a:t>
            </a:r>
            <a:endParaRPr sz="20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Rôle: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1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Création du Grafana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1" lvl="0" marL="360001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Configuration de la communication avec le server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8129402" y="2401175"/>
            <a:ext cx="3726600" cy="2409600"/>
          </a:xfrm>
          <a:prstGeom prst="rect">
            <a:avLst/>
          </a:prstGeom>
          <a:solidFill>
            <a:srgbClr val="009FD8"/>
          </a:solidFill>
          <a:ln>
            <a:noFill/>
          </a:ln>
          <a:effectLst>
            <a:outerShdw rotWithShape="0" algn="bl" dir="3180000" dist="85725">
              <a:schemeClr val="accent1">
                <a:alpha val="33000"/>
              </a:schemeClr>
            </a:outerShdw>
          </a:effectLst>
        </p:spPr>
        <p:txBody>
          <a:bodyPr anchorCtr="0" anchor="t" bIns="90000" lIns="108000" spcFirstLastPara="1" rIns="108000" wrap="square" tIns="90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Maxime Lestiboudois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rgbClr val="C9DAF8"/>
                </a:solidFill>
                <a:latin typeface="Arial"/>
                <a:ea typeface="Arial"/>
                <a:cs typeface="Arial"/>
                <a:sym typeface="Arial"/>
              </a:rPr>
              <a:t>Orientation sécurité</a:t>
            </a:r>
            <a:endParaRPr sz="2000">
              <a:solidFill>
                <a:srgbClr val="C9DA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Rôle: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1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 pour la communication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3999438" y="2401175"/>
            <a:ext cx="3726600" cy="2409600"/>
          </a:xfrm>
          <a:prstGeom prst="rect">
            <a:avLst/>
          </a:prstGeom>
          <a:solidFill>
            <a:srgbClr val="009FD8"/>
          </a:solidFill>
          <a:ln>
            <a:noFill/>
          </a:ln>
          <a:effectLst>
            <a:outerShdw rotWithShape="0" algn="bl" dir="3180000" dist="85725">
              <a:schemeClr val="accent1">
                <a:alpha val="33000"/>
              </a:schemeClr>
            </a:outerShdw>
          </a:effectLst>
        </p:spPr>
        <p:txBody>
          <a:bodyPr anchorCtr="0" anchor="t" bIns="90000" lIns="108000" spcFirstLastPara="1" rIns="108000" wrap="square" tIns="90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Lisa Gorgerat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rgbClr val="C9DAF8"/>
                </a:solidFill>
                <a:latin typeface="Arial"/>
                <a:ea typeface="Arial"/>
                <a:cs typeface="Arial"/>
                <a:sym typeface="Arial"/>
              </a:rPr>
              <a:t>Orientation sécurité</a:t>
            </a:r>
            <a:endParaRPr sz="2000">
              <a:solidFill>
                <a:srgbClr val="C9DA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Rôle: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1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 pour la détection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Park-Info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2000" cy="895800"/>
          </a:xfrm>
          <a:prstGeom prst="rect">
            <a:avLst/>
          </a:prstGeom>
          <a:solidFill>
            <a:srgbClr val="00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336000" y="6316133"/>
            <a:ext cx="11520000" cy="0"/>
          </a:xfrm>
          <a:prstGeom prst="straightConnector1">
            <a:avLst/>
          </a:prstGeom>
          <a:noFill/>
          <a:ln cap="flat" cmpd="sng" w="28575">
            <a:solidFill>
              <a:srgbClr val="0097C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" name="Google Shape;122;p16"/>
          <p:cNvSpPr txBox="1"/>
          <p:nvPr/>
        </p:nvSpPr>
        <p:spPr>
          <a:xfrm>
            <a:off x="317670" y="93964"/>
            <a:ext cx="1153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solidFill>
                  <a:schemeClr val="lt1"/>
                </a:solidFill>
              </a:rPr>
              <a:t>Architecture finale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>
            <p:ph idx="11" type="ftr"/>
          </p:nvPr>
        </p:nvSpPr>
        <p:spPr>
          <a:xfrm>
            <a:off x="3145405" y="6400800"/>
            <a:ext cx="590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Présentation du projet IoT, HEIG-VD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>
            <p:ph idx="12" type="sldNum"/>
          </p:nvPr>
        </p:nvSpPr>
        <p:spPr>
          <a:xfrm>
            <a:off x="11425822" y="6400800"/>
            <a:ext cx="430200" cy="3609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2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95850" y="1472815"/>
            <a:ext cx="2643000" cy="4502100"/>
          </a:xfrm>
          <a:prstGeom prst="rect">
            <a:avLst/>
          </a:prstGeom>
          <a:solidFill>
            <a:srgbClr val="C9DAF8"/>
          </a:solidFill>
          <a:ln>
            <a:noFill/>
          </a:ln>
          <a:effectLst>
            <a:outerShdw rotWithShape="0" algn="bl" dir="2760000" dist="57150">
              <a:srgbClr val="CFE2F3">
                <a:alpha val="6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774550" y="1472803"/>
            <a:ext cx="2643000" cy="4502100"/>
          </a:xfrm>
          <a:prstGeom prst="rect">
            <a:avLst/>
          </a:prstGeom>
          <a:solidFill>
            <a:srgbClr val="B6D7A8"/>
          </a:solidFill>
          <a:ln>
            <a:noFill/>
          </a:ln>
          <a:effectLst>
            <a:outerShdw rotWithShape="0" algn="bl" dir="2760000" dist="57150">
              <a:schemeClr val="accent6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753250" y="1472815"/>
            <a:ext cx="2643000" cy="4502100"/>
          </a:xfrm>
          <a:prstGeom prst="rect">
            <a:avLst/>
          </a:prstGeom>
          <a:solidFill>
            <a:srgbClr val="F4CCCC"/>
          </a:solidFill>
          <a:ln>
            <a:noFill/>
          </a:ln>
          <a:effectLst>
            <a:outerShdw rotWithShape="0" algn="bl" dir="2760000" dist="57150">
              <a:srgbClr val="E6B8AF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13750" y="992350"/>
            <a:ext cx="2446500" cy="320100"/>
          </a:xfrm>
          <a:prstGeom prst="rect">
            <a:avLst/>
          </a:prstGeom>
          <a:noFill/>
          <a:ln>
            <a:noFill/>
          </a:ln>
          <a:effectLst>
            <a:outerShdw rotWithShape="0" algn="bl" dir="2760000" dist="28575">
              <a:srgbClr val="C9DAF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Places de parking</a:t>
            </a:r>
            <a:endParaRPr b="1"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863575" y="1024250"/>
            <a:ext cx="2446500" cy="320100"/>
          </a:xfrm>
          <a:prstGeom prst="rect">
            <a:avLst/>
          </a:prstGeom>
          <a:noFill/>
          <a:ln>
            <a:noFill/>
          </a:ln>
          <a:effectLst>
            <a:outerShdw rotWithShape="0" algn="bl" dir="2760000" dist="28575">
              <a:srgbClr val="D9EAD3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1" sz="2000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851500" y="1024263"/>
            <a:ext cx="2446500" cy="320100"/>
          </a:xfrm>
          <a:prstGeom prst="rect">
            <a:avLst/>
          </a:prstGeom>
          <a:noFill/>
          <a:ln>
            <a:noFill/>
          </a:ln>
          <a:effectLst>
            <a:outerShdw rotWithShape="0" algn="bl" dir="2760000" dist="28575">
              <a:srgbClr val="F4CCC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Serveur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218400" y="1955197"/>
            <a:ext cx="1837200" cy="7080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rotWithShape="0" algn="bl" dir="2760000" dist="57150">
              <a:schemeClr val="accent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198750" y="3384897"/>
            <a:ext cx="1837200" cy="7080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rotWithShape="0" algn="bl" dir="2760000" dist="57150">
              <a:schemeClr val="accent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218400" y="4781734"/>
            <a:ext cx="1837200" cy="7080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rotWithShape="0" algn="bl" dir="2760000" dist="57150">
              <a:schemeClr val="accent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613800" y="2149147"/>
            <a:ext cx="10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Capteur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613800" y="3578847"/>
            <a:ext cx="10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Capteur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633450" y="4975684"/>
            <a:ext cx="10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Capteur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178050" y="1956610"/>
            <a:ext cx="1837200" cy="7080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rotWithShape="0" algn="bl" dir="2760000" dist="57150">
              <a:srgbClr val="38761D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178050" y="3386310"/>
            <a:ext cx="1837200" cy="7080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rotWithShape="0" algn="bl" dir="2760000" dist="57150">
              <a:srgbClr val="38761D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178050" y="4783147"/>
            <a:ext cx="1837200" cy="7080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rotWithShape="0" algn="bl" dir="2760000" dist="57150">
              <a:srgbClr val="38761D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464250" y="2146752"/>
            <a:ext cx="122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573450" y="3580260"/>
            <a:ext cx="10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Borne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400350" y="4977663"/>
            <a:ext cx="135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6"/>
          <p:cNvCxnSpPr>
            <a:stCxn id="131" idx="3"/>
            <a:endCxn id="139" idx="1"/>
          </p:cNvCxnSpPr>
          <p:nvPr/>
        </p:nvCxnSpPr>
        <p:spPr>
          <a:xfrm>
            <a:off x="3055600" y="2309197"/>
            <a:ext cx="2122500" cy="28281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6"/>
          <p:cNvCxnSpPr>
            <a:stCxn id="132" idx="3"/>
            <a:endCxn id="139" idx="1"/>
          </p:cNvCxnSpPr>
          <p:nvPr/>
        </p:nvCxnSpPr>
        <p:spPr>
          <a:xfrm>
            <a:off x="3035950" y="3738897"/>
            <a:ext cx="2142000" cy="13983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6"/>
          <p:cNvCxnSpPr>
            <a:stCxn id="133" idx="3"/>
            <a:endCxn id="139" idx="1"/>
          </p:cNvCxnSpPr>
          <p:nvPr/>
        </p:nvCxnSpPr>
        <p:spPr>
          <a:xfrm>
            <a:off x="3055600" y="5135734"/>
            <a:ext cx="2122500" cy="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6"/>
          <p:cNvCxnSpPr>
            <a:stCxn id="139" idx="0"/>
            <a:endCxn id="138" idx="2"/>
          </p:cNvCxnSpPr>
          <p:nvPr/>
        </p:nvCxnSpPr>
        <p:spPr>
          <a:xfrm rot="10800000">
            <a:off x="6096650" y="4094347"/>
            <a:ext cx="0" cy="68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6"/>
          <p:cNvCxnSpPr>
            <a:stCxn id="138" idx="0"/>
            <a:endCxn id="137" idx="2"/>
          </p:cNvCxnSpPr>
          <p:nvPr/>
        </p:nvCxnSpPr>
        <p:spPr>
          <a:xfrm rot="10800000">
            <a:off x="6096650" y="2664510"/>
            <a:ext cx="0" cy="72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/>
          <p:nvPr/>
        </p:nvSpPr>
        <p:spPr>
          <a:xfrm>
            <a:off x="9156150" y="3359335"/>
            <a:ext cx="1837200" cy="7080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rotWithShape="0" algn="bl" dir="2760000" dist="57150">
              <a:srgbClr val="99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442350" y="3549477"/>
            <a:ext cx="122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InfluxDB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9156150" y="4781735"/>
            <a:ext cx="1837200" cy="7080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rotWithShape="0" algn="bl" dir="2760000" dist="57150">
              <a:srgbClr val="99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462000" y="4972725"/>
            <a:ext cx="122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6"/>
          <p:cNvCxnSpPr>
            <a:endCxn id="150" idx="0"/>
          </p:cNvCxnSpPr>
          <p:nvPr/>
        </p:nvCxnSpPr>
        <p:spPr>
          <a:xfrm>
            <a:off x="10074750" y="4067435"/>
            <a:ext cx="0" cy="71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16"/>
          <p:cNvSpPr/>
          <p:nvPr/>
        </p:nvSpPr>
        <p:spPr>
          <a:xfrm>
            <a:off x="9156150" y="1958559"/>
            <a:ext cx="1837200" cy="7080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rotWithShape="0" algn="bl" dir="2760000" dist="57150">
              <a:srgbClr val="99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442350" y="2148701"/>
            <a:ext cx="122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TTN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6"/>
          <p:cNvCxnSpPr>
            <a:stCxn id="137" idx="3"/>
            <a:endCxn id="153" idx="1"/>
          </p:cNvCxnSpPr>
          <p:nvPr/>
        </p:nvCxnSpPr>
        <p:spPr>
          <a:xfrm>
            <a:off x="7015250" y="2310610"/>
            <a:ext cx="21408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6"/>
          <p:cNvCxnSpPr>
            <a:stCxn id="153" idx="2"/>
            <a:endCxn id="148" idx="0"/>
          </p:cNvCxnSpPr>
          <p:nvPr/>
        </p:nvCxnSpPr>
        <p:spPr>
          <a:xfrm>
            <a:off x="10074750" y="2666559"/>
            <a:ext cx="0" cy="69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16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Park-Info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0" y="0"/>
            <a:ext cx="12192000" cy="895800"/>
          </a:xfrm>
          <a:prstGeom prst="rect">
            <a:avLst/>
          </a:prstGeom>
          <a:solidFill>
            <a:srgbClr val="00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7"/>
          <p:cNvCxnSpPr/>
          <p:nvPr/>
        </p:nvCxnSpPr>
        <p:spPr>
          <a:xfrm>
            <a:off x="336000" y="6316133"/>
            <a:ext cx="11520000" cy="0"/>
          </a:xfrm>
          <a:prstGeom prst="straightConnector1">
            <a:avLst/>
          </a:prstGeom>
          <a:noFill/>
          <a:ln cap="flat" cmpd="sng" w="28575">
            <a:solidFill>
              <a:srgbClr val="0097C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4" name="Google Shape;164;p17"/>
          <p:cNvSpPr txBox="1"/>
          <p:nvPr/>
        </p:nvSpPr>
        <p:spPr>
          <a:xfrm>
            <a:off x="317670" y="93964"/>
            <a:ext cx="1153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solidFill>
                  <a:schemeClr val="lt1"/>
                </a:solidFill>
              </a:rPr>
              <a:t>Composants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>
            <p:ph idx="11" type="ftr"/>
          </p:nvPr>
        </p:nvSpPr>
        <p:spPr>
          <a:xfrm>
            <a:off x="3145405" y="6400800"/>
            <a:ext cx="590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Présentation du projet IoT, HEIG-VD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/>
          <p:nvPr>
            <p:ph idx="12" type="sldNum"/>
          </p:nvPr>
        </p:nvSpPr>
        <p:spPr>
          <a:xfrm>
            <a:off x="11425822" y="6400800"/>
            <a:ext cx="430200" cy="3609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2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317675" y="1044655"/>
            <a:ext cx="3278400" cy="27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Capteur: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Arduino MKR 1310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Seed-studio détecteur mmWave 24GHz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Antenne LoRa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Batterie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4447625" y="1025260"/>
            <a:ext cx="3278400" cy="27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Borne</a:t>
            </a: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Arduino MKR 1310 * 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Antenne LoRa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* 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Batterie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8577575" y="1015837"/>
            <a:ext cx="3278400" cy="27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Serveur: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Docker: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Grafana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Broker MQTT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Service python (bridge)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353700" y="5914777"/>
            <a:ext cx="11520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Coût final: 2 * 15.90 = 30.80 CHF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7" title="borne_centrale.png"/>
          <p:cNvPicPr preferRelativeResize="0"/>
          <p:nvPr/>
        </p:nvPicPr>
        <p:blipFill rotWithShape="1">
          <a:blip r:embed="rId3">
            <a:alphaModFix/>
          </a:blip>
          <a:srcRect b="10984" l="21779" r="21785" t="10671"/>
          <a:stretch/>
        </p:blipFill>
        <p:spPr>
          <a:xfrm>
            <a:off x="4944500" y="2852300"/>
            <a:ext cx="2338401" cy="337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title="capteur.png"/>
          <p:cNvPicPr preferRelativeResize="0"/>
          <p:nvPr/>
        </p:nvPicPr>
        <p:blipFill rotWithShape="1">
          <a:blip r:embed="rId4">
            <a:alphaModFix/>
          </a:blip>
          <a:srcRect b="16021" l="27161" r="0" t="17666"/>
          <a:stretch/>
        </p:blipFill>
        <p:spPr>
          <a:xfrm>
            <a:off x="553500" y="3740086"/>
            <a:ext cx="2679000" cy="206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title="vecteezy_dashboard-vector-thick-line-filled-colors-icon-for-personal_2833867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2988" y="3926737"/>
            <a:ext cx="1727563" cy="17275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Park-Info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2000" cy="895800"/>
          </a:xfrm>
          <a:prstGeom prst="rect">
            <a:avLst/>
          </a:prstGeom>
          <a:solidFill>
            <a:srgbClr val="00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>
            <p:ph idx="1" type="body"/>
          </p:nvPr>
        </p:nvSpPr>
        <p:spPr>
          <a:xfrm>
            <a:off x="317670" y="1035607"/>
            <a:ext cx="115200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Capteur 60GHz cassé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remplacé par des capteur 24 GHz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Arduino MKR 1310 ne peut pas faire du LoRa et du LoRaWAN simultanément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2 Arduino au lieu de 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Capteur 24GHz peut faire des faux positifs, comme il a un peu de peine à passer à travers le plastique du boîtier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utiliser un capteur 60 ou 70 GHz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Pas de boîte de protection custom à cause du temps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utilisation d’un boîtier existant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8"/>
          <p:cNvCxnSpPr/>
          <p:nvPr/>
        </p:nvCxnSpPr>
        <p:spPr>
          <a:xfrm>
            <a:off x="336000" y="6316133"/>
            <a:ext cx="11520000" cy="0"/>
          </a:xfrm>
          <a:prstGeom prst="straightConnector1">
            <a:avLst/>
          </a:prstGeom>
          <a:noFill/>
          <a:ln cap="flat" cmpd="sng" w="28575">
            <a:solidFill>
              <a:srgbClr val="0097C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2" name="Google Shape;182;p18"/>
          <p:cNvSpPr txBox="1"/>
          <p:nvPr/>
        </p:nvSpPr>
        <p:spPr>
          <a:xfrm>
            <a:off x="317670" y="93964"/>
            <a:ext cx="1153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solidFill>
                  <a:schemeClr val="lt1"/>
                </a:solidFill>
              </a:rPr>
              <a:t>Problèmes rencontrés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 txBox="1"/>
          <p:nvPr>
            <p:ph idx="11" type="ftr"/>
          </p:nvPr>
        </p:nvSpPr>
        <p:spPr>
          <a:xfrm>
            <a:off x="3145405" y="6400800"/>
            <a:ext cx="590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Présentation du projet IoT, HEIG-VD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/>
          <p:nvPr>
            <p:ph idx="12" type="sldNum"/>
          </p:nvPr>
        </p:nvSpPr>
        <p:spPr>
          <a:xfrm>
            <a:off x="11425822" y="6400800"/>
            <a:ext cx="430200" cy="3609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29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Park-Info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9FD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ctrTitle"/>
          </p:nvPr>
        </p:nvSpPr>
        <p:spPr>
          <a:xfrm>
            <a:off x="2235200" y="1820333"/>
            <a:ext cx="7721700" cy="1909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>
                <a:latin typeface="Arial"/>
                <a:ea typeface="Arial"/>
                <a:cs typeface="Arial"/>
                <a:sym typeface="Arial"/>
              </a:rPr>
              <a:t>Demo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1524000" y="47196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HEIG-VD, IoT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93" name="Google Shape;193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lt1"/>
                </a:solidFill>
              </a:rPr>
              <a:t>Présentation du projet IoT, HEIG-VD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19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Park-Info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9FD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ctrTitle"/>
          </p:nvPr>
        </p:nvSpPr>
        <p:spPr>
          <a:xfrm>
            <a:off x="2235200" y="1820333"/>
            <a:ext cx="7721700" cy="1909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 txBox="1"/>
          <p:nvPr>
            <p:ph idx="1" type="subTitle"/>
          </p:nvPr>
        </p:nvSpPr>
        <p:spPr>
          <a:xfrm>
            <a:off x="1524000" y="47196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HEIG-VD, IoT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2" name="Google Shape;202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lt1"/>
                </a:solidFill>
              </a:rPr>
              <a:t>Présentation du projet IoT, HEIG-VD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20"/>
          <p:cNvSpPr txBox="1"/>
          <p:nvPr>
            <p:ph idx="11" type="ftr"/>
          </p:nvPr>
        </p:nvSpPr>
        <p:spPr>
          <a:xfrm>
            <a:off x="290400" y="63563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Park-Info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